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ela Gothic One" panose="020B0604020202020204" charset="-128"/>
      <p:regular r:id="rId13"/>
    </p:embeddedFont>
    <p:embeddedFont>
      <p:font typeface="DM Sans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33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github.com/mbcgit-hub18/E-Commerce-Data-Analytics-Project" TargetMode="Externa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3"/>
          <p:cNvSpPr/>
          <p:nvPr/>
        </p:nvSpPr>
        <p:spPr>
          <a:xfrm>
            <a:off x="758309" y="2241352"/>
            <a:ext cx="7627382" cy="2138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50"/>
              <a:buFont typeface="Dela Gothic One"/>
              <a:buNone/>
            </a:pPr>
            <a:r>
              <a:rPr lang="en-US" sz="44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E-Commerce Sales Performance Dashboard</a:t>
            </a:r>
            <a:endParaRPr sz="4450" b="0" i="0" u="none" strike="noStrike" cap="none"/>
          </a:p>
        </p:txBody>
      </p:sp>
      <p:sp>
        <p:nvSpPr>
          <p:cNvPr id="48" name="Google Shape;48;p13"/>
          <p:cNvSpPr/>
          <p:nvPr/>
        </p:nvSpPr>
        <p:spPr>
          <a:xfrm>
            <a:off x="758309" y="4704398"/>
            <a:ext cx="7627382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End-to-end data analytics solution transforming raw transactional data into actionable business insights</a:t>
            </a:r>
            <a:endParaRPr sz="1700" b="0" i="0" u="none" strike="noStrike" cap="none"/>
          </a:p>
        </p:txBody>
      </p:sp>
      <p:sp>
        <p:nvSpPr>
          <p:cNvPr id="49" name="Google Shape;49;p13"/>
          <p:cNvSpPr/>
          <p:nvPr/>
        </p:nvSpPr>
        <p:spPr>
          <a:xfrm>
            <a:off x="758309" y="5641538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1" i="0" u="none" strike="noStrike" cap="none" dirty="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Prepared by:</a:t>
            </a:r>
            <a:r>
              <a:rPr lang="en-US" sz="1700" b="0" i="0" u="none" strike="noStrike" cap="none" dirty="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Midde Bharath Chandra |  March 2026</a:t>
            </a:r>
            <a:endParaRPr sz="1700" b="0" i="0" u="none" strike="noStrike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6118585" y="960255"/>
            <a:ext cx="5770245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50"/>
              <a:buFont typeface="Dela Gothic One"/>
              <a:buNone/>
            </a:pPr>
            <a:r>
              <a:rPr lang="en-US" sz="4450" b="0" i="0" u="none" strike="noStrike" cap="none" dirty="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Project Overview</a:t>
            </a:r>
            <a:endParaRPr sz="4450" b="0" i="0" u="none" strike="noStrike" cap="none" dirty="0"/>
          </a:p>
        </p:txBody>
      </p:sp>
      <p:sp>
        <p:nvSpPr>
          <p:cNvPr id="57" name="Google Shape;57;p14"/>
          <p:cNvSpPr/>
          <p:nvPr/>
        </p:nvSpPr>
        <p:spPr>
          <a:xfrm>
            <a:off x="6118585" y="2971205"/>
            <a:ext cx="387675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lang="en-US" sz="2200" b="0" i="0" u="none" strike="noStrike" cap="none" dirty="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Executive Summary</a:t>
            </a:r>
            <a:endParaRPr sz="2200" b="0" i="0" u="none" strike="noStrike" cap="none" dirty="0"/>
          </a:p>
        </p:txBody>
      </p:sp>
      <p:sp>
        <p:nvSpPr>
          <p:cNvPr id="58" name="Google Shape;58;p14"/>
          <p:cNvSpPr/>
          <p:nvPr/>
        </p:nvSpPr>
        <p:spPr>
          <a:xfrm>
            <a:off x="6244709" y="3544014"/>
            <a:ext cx="3549372" cy="277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Complete end-to-end data analytics solution for e-commerce sales performance. PostgreSQL database manages large-scale transactional data optimized with SQL views and indexing. Integrated with Power BI for interactive, performance-efficient dashboard.</a:t>
            </a:r>
            <a:endParaRPr sz="1700" b="0" i="0" u="none" strike="noStrike" cap="none"/>
          </a:p>
        </p:txBody>
      </p:sp>
      <p:sp>
        <p:nvSpPr>
          <p:cNvPr id="59" name="Google Shape;59;p14"/>
          <p:cNvSpPr/>
          <p:nvPr/>
        </p:nvSpPr>
        <p:spPr>
          <a:xfrm>
            <a:off x="10330339" y="2971205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Key Tools</a:t>
            </a:r>
            <a:endParaRPr sz="2200" b="0" i="0" u="none" strike="noStrike" cap="none"/>
          </a:p>
        </p:txBody>
      </p:sp>
      <p:sp>
        <p:nvSpPr>
          <p:cNvPr id="60" name="Google Shape;60;p14"/>
          <p:cNvSpPr/>
          <p:nvPr/>
        </p:nvSpPr>
        <p:spPr>
          <a:xfrm>
            <a:off x="10330339" y="3544014"/>
            <a:ext cx="3549372" cy="196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PostgreSQL for database management</a:t>
            </a:r>
            <a:endParaRPr sz="1700" b="0" i="0" u="none" strike="noStrike" cap="none"/>
          </a:p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Power BI for visualization</a:t>
            </a:r>
            <a:endParaRPr sz="1700" b="0" i="0" u="none" strike="noStrike" cap="none"/>
          </a:p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SQL for data transformation</a:t>
            </a:r>
            <a:endParaRPr sz="1700" b="0" i="0" u="none" strike="noStrike" cap="none"/>
          </a:p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DAX for KPI calculations</a:t>
            </a:r>
            <a:endParaRPr sz="170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758309" y="1955483"/>
            <a:ext cx="6378535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50"/>
              <a:buFont typeface="Dela Gothic One"/>
              <a:buNone/>
            </a:pPr>
            <a:r>
              <a:rPr lang="en-US" sz="44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Problem &amp; Solution</a:t>
            </a:r>
            <a:endParaRPr sz="4450" b="0" i="0" u="none" strike="noStrike" cap="none"/>
          </a:p>
        </p:txBody>
      </p:sp>
      <p:pic>
        <p:nvPicPr>
          <p:cNvPr id="67" name="Google Shape;6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309" y="3101459"/>
            <a:ext cx="4371261" cy="86653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974884" y="4184571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Challenge</a:t>
            </a:r>
            <a:endParaRPr sz="2200" b="0" i="0" u="none" strike="noStrike" cap="none"/>
          </a:p>
        </p:txBody>
      </p:sp>
      <p:sp>
        <p:nvSpPr>
          <p:cNvPr id="69" name="Google Shape;69;p15"/>
          <p:cNvSpPr/>
          <p:nvPr/>
        </p:nvSpPr>
        <p:spPr>
          <a:xfrm>
            <a:off x="974884" y="4670703"/>
            <a:ext cx="3938111" cy="138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Large-scale e-commerce datasets in Power BI using DirectQuery caused performance issues with complex joins and high data volume</a:t>
            </a:r>
            <a:endParaRPr sz="1700" b="0" i="0" u="none" strike="noStrike" cap="none"/>
          </a:p>
        </p:txBody>
      </p:sp>
      <p:pic>
        <p:nvPicPr>
          <p:cNvPr id="70" name="Google Shape;70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9570" y="3101459"/>
            <a:ext cx="4371261" cy="86653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5346144" y="4184571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Approach</a:t>
            </a:r>
            <a:endParaRPr sz="2200" b="0" i="0" u="none" strike="noStrike" cap="none"/>
          </a:p>
        </p:txBody>
      </p:sp>
      <p:sp>
        <p:nvSpPr>
          <p:cNvPr id="72" name="Google Shape;72;p15"/>
          <p:cNvSpPr/>
          <p:nvPr/>
        </p:nvSpPr>
        <p:spPr>
          <a:xfrm>
            <a:off x="5346144" y="4670703"/>
            <a:ext cx="3938111" cy="138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Hybrid approach using Import and DirectQuery modes ensures both high performance and near real-time analytics</a:t>
            </a:r>
            <a:endParaRPr sz="1700" b="0" i="0" u="none" strike="noStrike" cap="none"/>
          </a:p>
        </p:txBody>
      </p:sp>
      <p:pic>
        <p:nvPicPr>
          <p:cNvPr id="73" name="Google Shape;73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00830" y="3101459"/>
            <a:ext cx="4371261" cy="86653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9717405" y="4184571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Result</a:t>
            </a:r>
            <a:endParaRPr sz="2200" b="0" i="0" u="none" strike="noStrike" cap="none"/>
          </a:p>
        </p:txBody>
      </p:sp>
      <p:sp>
        <p:nvSpPr>
          <p:cNvPr id="75" name="Google Shape;75;p15"/>
          <p:cNvSpPr/>
          <p:nvPr/>
        </p:nvSpPr>
        <p:spPr>
          <a:xfrm>
            <a:off x="9717405" y="4670703"/>
            <a:ext cx="3938111" cy="104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Fast performance, efficient data modeling, and real-time insights without overloading BI layer</a:t>
            </a:r>
            <a:endParaRPr sz="170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58309" y="1072277"/>
            <a:ext cx="7132796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50"/>
              <a:buFont typeface="Dela Gothic One"/>
              <a:buNone/>
            </a:pPr>
            <a:r>
              <a:rPr lang="en-US" sz="44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System Architecture</a:t>
            </a:r>
            <a:endParaRPr sz="4450" b="0" i="0" u="none" strike="noStrike" cap="none"/>
          </a:p>
        </p:txBody>
      </p:sp>
      <p:sp>
        <p:nvSpPr>
          <p:cNvPr id="82" name="Google Shape;82;p16"/>
          <p:cNvSpPr/>
          <p:nvPr/>
        </p:nvSpPr>
        <p:spPr>
          <a:xfrm>
            <a:off x="758309" y="2218253"/>
            <a:ext cx="433268" cy="27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ela Gothic One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01</a:t>
            </a:r>
            <a:endParaRPr sz="1700" b="0" i="0" u="none" strike="noStrike" cap="none"/>
          </a:p>
        </p:txBody>
      </p:sp>
      <p:sp>
        <p:nvSpPr>
          <p:cNvPr id="83" name="Google Shape;83;p16"/>
          <p:cNvSpPr/>
          <p:nvPr/>
        </p:nvSpPr>
        <p:spPr>
          <a:xfrm>
            <a:off x="758309" y="2555796"/>
            <a:ext cx="6448544" cy="3048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758309" y="2724983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Data Collection</a:t>
            </a:r>
            <a:endParaRPr sz="2200" b="0" i="0" u="none" strike="noStrike" cap="none"/>
          </a:p>
        </p:txBody>
      </p:sp>
      <p:sp>
        <p:nvSpPr>
          <p:cNvPr id="85" name="Google Shape;85;p16"/>
          <p:cNvSpPr/>
          <p:nvPr/>
        </p:nvSpPr>
        <p:spPr>
          <a:xfrm>
            <a:off x="758309" y="3211116"/>
            <a:ext cx="6448544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CSV datasets from Olist Brazil E-Commerce (Kaggle)</a:t>
            </a:r>
            <a:endParaRPr sz="1700" b="0" i="0" u="none" strike="noStrike" cap="none"/>
          </a:p>
        </p:txBody>
      </p:sp>
      <p:sp>
        <p:nvSpPr>
          <p:cNvPr id="86" name="Google Shape;86;p16"/>
          <p:cNvSpPr/>
          <p:nvPr/>
        </p:nvSpPr>
        <p:spPr>
          <a:xfrm>
            <a:off x="7423428" y="2218253"/>
            <a:ext cx="433268" cy="27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ela Gothic One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02</a:t>
            </a:r>
            <a:endParaRPr sz="1700" b="0" i="0" u="none" strike="noStrike" cap="none"/>
          </a:p>
        </p:txBody>
      </p:sp>
      <p:sp>
        <p:nvSpPr>
          <p:cNvPr id="87" name="Google Shape;87;p16"/>
          <p:cNvSpPr/>
          <p:nvPr/>
        </p:nvSpPr>
        <p:spPr>
          <a:xfrm>
            <a:off x="7423428" y="2555796"/>
            <a:ext cx="6448663" cy="3048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7423428" y="2724983"/>
            <a:ext cx="3208139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Database Creation</a:t>
            </a:r>
            <a:endParaRPr sz="2200" b="0" i="0" u="none" strike="noStrike" cap="none"/>
          </a:p>
        </p:txBody>
      </p:sp>
      <p:sp>
        <p:nvSpPr>
          <p:cNvPr id="89" name="Google Shape;89;p16"/>
          <p:cNvSpPr/>
          <p:nvPr/>
        </p:nvSpPr>
        <p:spPr>
          <a:xfrm>
            <a:off x="7423428" y="3211116"/>
            <a:ext cx="6448663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PostgreSQL database with star schema design</a:t>
            </a:r>
            <a:endParaRPr sz="1700" b="0" i="0" u="none" strike="noStrike" cap="none"/>
          </a:p>
        </p:txBody>
      </p:sp>
      <p:sp>
        <p:nvSpPr>
          <p:cNvPr id="90" name="Google Shape;90;p16"/>
          <p:cNvSpPr/>
          <p:nvPr/>
        </p:nvSpPr>
        <p:spPr>
          <a:xfrm>
            <a:off x="758309" y="3936802"/>
            <a:ext cx="433268" cy="27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ela Gothic One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03</a:t>
            </a:r>
            <a:endParaRPr sz="1700" b="0" i="0" u="none" strike="noStrike" cap="none"/>
          </a:p>
        </p:txBody>
      </p:sp>
      <p:sp>
        <p:nvSpPr>
          <p:cNvPr id="91" name="Google Shape;91;p16"/>
          <p:cNvSpPr/>
          <p:nvPr/>
        </p:nvSpPr>
        <p:spPr>
          <a:xfrm>
            <a:off x="758309" y="4274344"/>
            <a:ext cx="6448544" cy="3048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758309" y="4443532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Data Import</a:t>
            </a:r>
            <a:endParaRPr sz="2200" b="0" i="0" u="none" strike="noStrike" cap="none"/>
          </a:p>
        </p:txBody>
      </p:sp>
      <p:sp>
        <p:nvSpPr>
          <p:cNvPr id="93" name="Google Shape;93;p16"/>
          <p:cNvSpPr/>
          <p:nvPr/>
        </p:nvSpPr>
        <p:spPr>
          <a:xfrm>
            <a:off x="758309" y="4929664"/>
            <a:ext cx="6448544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COPY command with chunk-based ingestion (~1 lakh rows)</a:t>
            </a:r>
            <a:endParaRPr sz="1700" b="0" i="0" u="none" strike="noStrike" cap="none"/>
          </a:p>
        </p:txBody>
      </p:sp>
      <p:sp>
        <p:nvSpPr>
          <p:cNvPr id="94" name="Google Shape;94;p16"/>
          <p:cNvSpPr/>
          <p:nvPr/>
        </p:nvSpPr>
        <p:spPr>
          <a:xfrm>
            <a:off x="7423428" y="3936802"/>
            <a:ext cx="433268" cy="27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ela Gothic One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04</a:t>
            </a:r>
            <a:endParaRPr sz="1700" b="0" i="0" u="none" strike="noStrike" cap="none"/>
          </a:p>
        </p:txBody>
      </p:sp>
      <p:sp>
        <p:nvSpPr>
          <p:cNvPr id="95" name="Google Shape;95;p16"/>
          <p:cNvSpPr/>
          <p:nvPr/>
        </p:nvSpPr>
        <p:spPr>
          <a:xfrm>
            <a:off x="7423428" y="4274344"/>
            <a:ext cx="6448663" cy="3048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7423428" y="4443532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Optimization</a:t>
            </a:r>
            <a:endParaRPr sz="2200" b="0" i="0" u="none" strike="noStrike" cap="none"/>
          </a:p>
        </p:txBody>
      </p:sp>
      <p:sp>
        <p:nvSpPr>
          <p:cNvPr id="97" name="Google Shape;97;p16"/>
          <p:cNvSpPr/>
          <p:nvPr/>
        </p:nvSpPr>
        <p:spPr>
          <a:xfrm>
            <a:off x="7423428" y="4929664"/>
            <a:ext cx="6448663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SQL views and indexing on key columns</a:t>
            </a:r>
            <a:endParaRPr sz="1700" b="0" i="0" u="none" strike="noStrike" cap="none"/>
          </a:p>
        </p:txBody>
      </p:sp>
      <p:sp>
        <p:nvSpPr>
          <p:cNvPr id="98" name="Google Shape;98;p16"/>
          <p:cNvSpPr/>
          <p:nvPr/>
        </p:nvSpPr>
        <p:spPr>
          <a:xfrm>
            <a:off x="758309" y="5655350"/>
            <a:ext cx="433268" cy="27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ela Gothic One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05</a:t>
            </a:r>
            <a:endParaRPr sz="1700" b="0" i="0" u="none" strike="noStrike" cap="none"/>
          </a:p>
        </p:txBody>
      </p:sp>
      <p:sp>
        <p:nvSpPr>
          <p:cNvPr id="99" name="Google Shape;99;p16"/>
          <p:cNvSpPr/>
          <p:nvPr/>
        </p:nvSpPr>
        <p:spPr>
          <a:xfrm>
            <a:off x="758309" y="5992892"/>
            <a:ext cx="6448544" cy="3048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758309" y="6162080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Integration</a:t>
            </a:r>
            <a:endParaRPr sz="2200" b="0" i="0" u="none" strike="noStrike" cap="none"/>
          </a:p>
        </p:txBody>
      </p:sp>
      <p:sp>
        <p:nvSpPr>
          <p:cNvPr id="101" name="Google Shape;101;p16"/>
          <p:cNvSpPr/>
          <p:nvPr/>
        </p:nvSpPr>
        <p:spPr>
          <a:xfrm>
            <a:off x="758309" y="6648212"/>
            <a:ext cx="6448544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Power BI connected using hybrid model</a:t>
            </a:r>
            <a:endParaRPr sz="1700" b="0" i="0" u="none" strike="noStrike" cap="none"/>
          </a:p>
        </p:txBody>
      </p:sp>
      <p:sp>
        <p:nvSpPr>
          <p:cNvPr id="102" name="Google Shape;102;p16"/>
          <p:cNvSpPr/>
          <p:nvPr/>
        </p:nvSpPr>
        <p:spPr>
          <a:xfrm>
            <a:off x="7423428" y="5655350"/>
            <a:ext cx="433268" cy="27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ela Gothic One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06</a:t>
            </a:r>
            <a:endParaRPr sz="1700" b="0" i="0" u="none" strike="noStrike" cap="none"/>
          </a:p>
        </p:txBody>
      </p:sp>
      <p:sp>
        <p:nvSpPr>
          <p:cNvPr id="103" name="Google Shape;103;p16"/>
          <p:cNvSpPr/>
          <p:nvPr/>
        </p:nvSpPr>
        <p:spPr>
          <a:xfrm>
            <a:off x="7423428" y="5992892"/>
            <a:ext cx="6448663" cy="3048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7423428" y="6162080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Dashboard</a:t>
            </a:r>
            <a:endParaRPr sz="2200" b="0" i="0" u="none" strike="noStrike" cap="none"/>
          </a:p>
        </p:txBody>
      </p:sp>
      <p:sp>
        <p:nvSpPr>
          <p:cNvPr id="105" name="Google Shape;105;p16"/>
          <p:cNvSpPr/>
          <p:nvPr/>
        </p:nvSpPr>
        <p:spPr>
          <a:xfrm>
            <a:off x="7423428" y="6648212"/>
            <a:ext cx="6448663" cy="34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Interactive multi-page analytical interface</a:t>
            </a:r>
            <a:endParaRPr sz="170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758309" y="1441609"/>
            <a:ext cx="5769769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50"/>
              <a:buFont typeface="Dela Gothic One"/>
              <a:buNone/>
            </a:pPr>
            <a:r>
              <a:rPr lang="en-US" sz="44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Database Design</a:t>
            </a:r>
            <a:endParaRPr sz="4450" b="0" i="0" u="none" strike="noStrike" cap="none"/>
          </a:p>
        </p:txBody>
      </p:sp>
      <p:sp>
        <p:nvSpPr>
          <p:cNvPr id="112" name="Google Shape;112;p17"/>
          <p:cNvSpPr/>
          <p:nvPr/>
        </p:nvSpPr>
        <p:spPr>
          <a:xfrm>
            <a:off x="758309" y="2695813"/>
            <a:ext cx="4477941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Star Schema Architecture</a:t>
            </a:r>
            <a:endParaRPr sz="2200" b="0" i="0" u="none" strike="noStrike" cap="none"/>
          </a:p>
        </p:txBody>
      </p:sp>
      <p:sp>
        <p:nvSpPr>
          <p:cNvPr id="113" name="Google Shape;113;p17"/>
          <p:cNvSpPr/>
          <p:nvPr/>
        </p:nvSpPr>
        <p:spPr>
          <a:xfrm>
            <a:off x="758309" y="3268623"/>
            <a:ext cx="7656790" cy="104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Central fact table </a:t>
            </a:r>
            <a:r>
              <a:rPr lang="en-US" sz="1700" b="1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bi_fact_sales</a:t>
            </a: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connected to dimension tables for Date, Customers, Products, and Sellers. One-to-many relationships maintained with primary and foreign keys for data integrity.</a:t>
            </a:r>
            <a:endParaRPr sz="1700" b="0" i="0" u="none" strike="noStrike" cap="none"/>
          </a:p>
        </p:txBody>
      </p:sp>
      <p:sp>
        <p:nvSpPr>
          <p:cNvPr id="114" name="Google Shape;114;p17"/>
          <p:cNvSpPr/>
          <p:nvPr/>
        </p:nvSpPr>
        <p:spPr>
          <a:xfrm>
            <a:off x="758309" y="4525328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Key Features</a:t>
            </a:r>
            <a:endParaRPr sz="2200" b="0" i="0" u="none" strike="noStrike" cap="none"/>
          </a:p>
        </p:txBody>
      </p:sp>
      <p:sp>
        <p:nvSpPr>
          <p:cNvPr id="115" name="Google Shape;115;p17"/>
          <p:cNvSpPr/>
          <p:nvPr/>
        </p:nvSpPr>
        <p:spPr>
          <a:xfrm>
            <a:off x="758309" y="5098137"/>
            <a:ext cx="7656790" cy="161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Fact table with transactional metrics</a:t>
            </a:r>
            <a:endParaRPr sz="1700" b="0" i="0" u="none" strike="noStrike" cap="none"/>
          </a:p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Dimension tables with descriptive attributes</a:t>
            </a:r>
            <a:endParaRPr sz="1700" b="0" i="0" u="none" strike="noStrike" cap="none"/>
          </a:p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SQL views reducing 70+ columns to ~20 relevant fields</a:t>
            </a:r>
            <a:endParaRPr sz="1700" b="0" i="0" u="none" strike="noStrike" cap="none"/>
          </a:p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Indexes on order_id and customer_id</a:t>
            </a:r>
            <a:endParaRPr sz="1700" b="0" i="0" u="none" strike="noStrike" cap="none"/>
          </a:p>
        </p:txBody>
      </p:sp>
      <p:pic>
        <p:nvPicPr>
          <p:cNvPr id="116" name="Google Shape;11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51357" y="2990850"/>
            <a:ext cx="4928235" cy="3285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126124" y="620316"/>
            <a:ext cx="7304090" cy="65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100"/>
              <a:buFont typeface="Dela Gothic One"/>
              <a:buNone/>
            </a:pPr>
            <a:endParaRPr sz="4100" b="0" i="0" u="none" strike="noStrike" cap="none" dirty="0"/>
          </a:p>
        </p:txBody>
      </p:sp>
      <p:sp>
        <p:nvSpPr>
          <p:cNvPr id="123" name="Google Shape;123;p18"/>
          <p:cNvSpPr/>
          <p:nvPr/>
        </p:nvSpPr>
        <p:spPr>
          <a:xfrm>
            <a:off x="699016" y="1745337"/>
            <a:ext cx="6501051" cy="65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150"/>
              <a:buFont typeface="Dela Gothic One"/>
              <a:buNone/>
            </a:pPr>
            <a:r>
              <a:rPr lang="en-US" sz="5150" b="0" i="0" u="none" strike="noStrike" cap="none" dirty="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14.21M</a:t>
            </a:r>
            <a:endParaRPr sz="5150" b="0" i="0" u="none" strike="noStrike" cap="none" dirty="0"/>
          </a:p>
        </p:txBody>
      </p:sp>
      <p:sp>
        <p:nvSpPr>
          <p:cNvPr id="124" name="Google Shape;124;p18"/>
          <p:cNvSpPr/>
          <p:nvPr/>
        </p:nvSpPr>
        <p:spPr>
          <a:xfrm>
            <a:off x="2635448" y="2642116"/>
            <a:ext cx="2628067" cy="3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050"/>
              <a:buFont typeface="Dela Gothic One"/>
              <a:buNone/>
            </a:pPr>
            <a:r>
              <a:rPr lang="en-US" sz="20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Total Revenue</a:t>
            </a:r>
            <a:endParaRPr sz="2050" b="0" i="0" u="none" strike="noStrike" cap="none"/>
          </a:p>
        </p:txBody>
      </p:sp>
      <p:sp>
        <p:nvSpPr>
          <p:cNvPr id="125" name="Google Shape;125;p18"/>
          <p:cNvSpPr/>
          <p:nvPr/>
        </p:nvSpPr>
        <p:spPr>
          <a:xfrm>
            <a:off x="699016" y="3080861"/>
            <a:ext cx="6501051" cy="3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M Sans"/>
              <a:buNone/>
            </a:pPr>
            <a:r>
              <a:rPr lang="en-US" sz="15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Year-over-year growth of 253.07%</a:t>
            </a:r>
            <a:endParaRPr sz="1550" b="0" i="0" u="none" strike="noStrike" cap="none"/>
          </a:p>
        </p:txBody>
      </p:sp>
      <p:sp>
        <p:nvSpPr>
          <p:cNvPr id="126" name="Google Shape;126;p18"/>
          <p:cNvSpPr/>
          <p:nvPr/>
        </p:nvSpPr>
        <p:spPr>
          <a:xfrm>
            <a:off x="7430214" y="1745337"/>
            <a:ext cx="6501170" cy="65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150"/>
              <a:buFont typeface="Dela Gothic One"/>
              <a:buNone/>
            </a:pPr>
            <a:r>
              <a:rPr lang="en-US" sz="51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98.67K</a:t>
            </a:r>
            <a:endParaRPr sz="5150" b="0" i="0" u="none" strike="noStrike" cap="none"/>
          </a:p>
        </p:txBody>
      </p:sp>
      <p:sp>
        <p:nvSpPr>
          <p:cNvPr id="127" name="Google Shape;127;p18"/>
          <p:cNvSpPr/>
          <p:nvPr/>
        </p:nvSpPr>
        <p:spPr>
          <a:xfrm>
            <a:off x="9366766" y="2642116"/>
            <a:ext cx="2628067" cy="3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050"/>
              <a:buFont typeface="Dela Gothic One"/>
              <a:buNone/>
            </a:pPr>
            <a:r>
              <a:rPr lang="en-US" sz="20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Total Orders</a:t>
            </a:r>
            <a:endParaRPr sz="2050" b="0" i="0" u="none" strike="noStrike" cap="none"/>
          </a:p>
        </p:txBody>
      </p:sp>
      <p:sp>
        <p:nvSpPr>
          <p:cNvPr id="128" name="Google Shape;128;p18"/>
          <p:cNvSpPr/>
          <p:nvPr/>
        </p:nvSpPr>
        <p:spPr>
          <a:xfrm>
            <a:off x="7430214" y="3080861"/>
            <a:ext cx="6501170" cy="3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M Sans"/>
              <a:buNone/>
            </a:pPr>
            <a:r>
              <a:rPr lang="en-US" sz="15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97.78% delivered successfully</a:t>
            </a:r>
            <a:endParaRPr sz="1550" b="0" i="0" u="none" strike="noStrike" cap="none"/>
          </a:p>
        </p:txBody>
      </p:sp>
      <p:sp>
        <p:nvSpPr>
          <p:cNvPr id="129" name="Google Shape;129;p18"/>
          <p:cNvSpPr/>
          <p:nvPr/>
        </p:nvSpPr>
        <p:spPr>
          <a:xfrm>
            <a:off x="699016" y="3855958"/>
            <a:ext cx="6501051" cy="65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150"/>
              <a:buFont typeface="Dela Gothic One"/>
              <a:buNone/>
            </a:pPr>
            <a:r>
              <a:rPr lang="en-US" sz="51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95.42K</a:t>
            </a:r>
            <a:endParaRPr sz="5150" b="0" i="0" u="none" strike="noStrike" cap="none"/>
          </a:p>
        </p:txBody>
      </p:sp>
      <p:sp>
        <p:nvSpPr>
          <p:cNvPr id="130" name="Google Shape;130;p18"/>
          <p:cNvSpPr/>
          <p:nvPr/>
        </p:nvSpPr>
        <p:spPr>
          <a:xfrm>
            <a:off x="2635448" y="4752737"/>
            <a:ext cx="2628067" cy="3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050"/>
              <a:buFont typeface="Dela Gothic One"/>
              <a:buNone/>
            </a:pPr>
            <a:r>
              <a:rPr lang="en-US" sz="20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Total Customers</a:t>
            </a:r>
            <a:endParaRPr sz="2050" b="0" i="0" u="none" strike="noStrike" cap="none"/>
          </a:p>
        </p:txBody>
      </p:sp>
      <p:sp>
        <p:nvSpPr>
          <p:cNvPr id="131" name="Google Shape;131;p18"/>
          <p:cNvSpPr/>
          <p:nvPr/>
        </p:nvSpPr>
        <p:spPr>
          <a:xfrm>
            <a:off x="699016" y="5191482"/>
            <a:ext cx="6501051" cy="3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M Sans"/>
              <a:buNone/>
            </a:pPr>
            <a:r>
              <a:rPr lang="en-US" sz="15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Across multiple geographic regions</a:t>
            </a:r>
            <a:endParaRPr sz="1550" b="0" i="0" u="none" strike="noStrike" cap="none"/>
          </a:p>
        </p:txBody>
      </p:sp>
      <p:sp>
        <p:nvSpPr>
          <p:cNvPr id="132" name="Google Shape;132;p18"/>
          <p:cNvSpPr/>
          <p:nvPr/>
        </p:nvSpPr>
        <p:spPr>
          <a:xfrm>
            <a:off x="7430214" y="3855958"/>
            <a:ext cx="6501170" cy="65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150"/>
              <a:buFont typeface="Dela Gothic One"/>
              <a:buNone/>
            </a:pPr>
            <a:r>
              <a:rPr lang="en-US" sz="51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$144.01</a:t>
            </a:r>
            <a:endParaRPr sz="5150" b="0" i="0" u="none" strike="noStrike" cap="none"/>
          </a:p>
        </p:txBody>
      </p:sp>
      <p:sp>
        <p:nvSpPr>
          <p:cNvPr id="133" name="Google Shape;133;p18"/>
          <p:cNvSpPr/>
          <p:nvPr/>
        </p:nvSpPr>
        <p:spPr>
          <a:xfrm>
            <a:off x="9081611" y="4752737"/>
            <a:ext cx="3198376" cy="3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050"/>
              <a:buFont typeface="Dela Gothic One"/>
              <a:buNone/>
            </a:pPr>
            <a:r>
              <a:rPr lang="en-US" sz="20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Average Order Value</a:t>
            </a:r>
            <a:endParaRPr sz="2050" b="0" i="0" u="none" strike="noStrike" cap="none"/>
          </a:p>
        </p:txBody>
      </p:sp>
      <p:sp>
        <p:nvSpPr>
          <p:cNvPr id="134" name="Google Shape;134;p18"/>
          <p:cNvSpPr/>
          <p:nvPr/>
        </p:nvSpPr>
        <p:spPr>
          <a:xfrm>
            <a:off x="7430214" y="5191482"/>
            <a:ext cx="6501170" cy="3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M Sans"/>
              <a:buNone/>
            </a:pPr>
            <a:r>
              <a:rPr lang="en-US" sz="15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Consistent across categories</a:t>
            </a:r>
            <a:endParaRPr sz="1550" b="0" i="0" u="none" strike="noStrike" cap="none"/>
          </a:p>
        </p:txBody>
      </p:sp>
      <p:sp>
        <p:nvSpPr>
          <p:cNvPr id="135" name="Google Shape;135;p18"/>
          <p:cNvSpPr/>
          <p:nvPr/>
        </p:nvSpPr>
        <p:spPr>
          <a:xfrm>
            <a:off x="699016" y="5966579"/>
            <a:ext cx="6501051" cy="65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150"/>
              <a:buFont typeface="Dela Gothic One"/>
              <a:buNone/>
            </a:pPr>
            <a:r>
              <a:rPr lang="en-US" sz="51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93.23%</a:t>
            </a:r>
            <a:endParaRPr sz="5150" b="0" i="0" u="none" strike="noStrike" cap="none"/>
          </a:p>
        </p:txBody>
      </p:sp>
      <p:sp>
        <p:nvSpPr>
          <p:cNvPr id="136" name="Google Shape;136;p18"/>
          <p:cNvSpPr/>
          <p:nvPr/>
        </p:nvSpPr>
        <p:spPr>
          <a:xfrm>
            <a:off x="2594967" y="6863358"/>
            <a:ext cx="2709029" cy="3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050"/>
              <a:buFont typeface="Dela Gothic One"/>
              <a:buNone/>
            </a:pPr>
            <a:r>
              <a:rPr lang="en-US" sz="20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On-Time Delivery</a:t>
            </a:r>
            <a:endParaRPr sz="2050" b="0" i="0" u="none" strike="noStrike" cap="none"/>
          </a:p>
        </p:txBody>
      </p:sp>
      <p:sp>
        <p:nvSpPr>
          <p:cNvPr id="137" name="Google Shape;137;p18"/>
          <p:cNvSpPr/>
          <p:nvPr/>
        </p:nvSpPr>
        <p:spPr>
          <a:xfrm>
            <a:off x="699016" y="7302103"/>
            <a:ext cx="6501051" cy="3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M Sans"/>
              <a:buNone/>
            </a:pPr>
            <a:r>
              <a:rPr lang="en-US" sz="15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Majority orders delivered on schedule</a:t>
            </a:r>
            <a:endParaRPr sz="1550" b="0" i="0" u="none" strike="noStrike" cap="none"/>
          </a:p>
        </p:txBody>
      </p:sp>
      <p:sp>
        <p:nvSpPr>
          <p:cNvPr id="138" name="Google Shape;138;p18"/>
          <p:cNvSpPr/>
          <p:nvPr/>
        </p:nvSpPr>
        <p:spPr>
          <a:xfrm>
            <a:off x="7430214" y="5966579"/>
            <a:ext cx="6501170" cy="65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5150"/>
              <a:buFont typeface="Dela Gothic One"/>
              <a:buNone/>
            </a:pPr>
            <a:r>
              <a:rPr lang="en-US" sz="51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4.03</a:t>
            </a:r>
            <a:endParaRPr sz="5150" b="0" i="0" u="none" strike="noStrike" cap="none"/>
          </a:p>
        </p:txBody>
      </p:sp>
      <p:sp>
        <p:nvSpPr>
          <p:cNvPr id="139" name="Google Shape;139;p18"/>
          <p:cNvSpPr/>
          <p:nvPr/>
        </p:nvSpPr>
        <p:spPr>
          <a:xfrm>
            <a:off x="9366766" y="6863358"/>
            <a:ext cx="2628067" cy="3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050"/>
              <a:buFont typeface="Dela Gothic One"/>
              <a:buNone/>
            </a:pPr>
            <a:r>
              <a:rPr lang="en-US" sz="20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Average Rating</a:t>
            </a:r>
            <a:endParaRPr sz="2050" b="0" i="0" u="none" strike="noStrike" cap="none"/>
          </a:p>
        </p:txBody>
      </p:sp>
      <p:sp>
        <p:nvSpPr>
          <p:cNvPr id="140" name="Google Shape;140;p18"/>
          <p:cNvSpPr/>
          <p:nvPr/>
        </p:nvSpPr>
        <p:spPr>
          <a:xfrm>
            <a:off x="7430214" y="7302103"/>
            <a:ext cx="6501170" cy="3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50"/>
              <a:buFont typeface="DM Sans"/>
              <a:buNone/>
            </a:pPr>
            <a:r>
              <a:rPr lang="en-US" sz="15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Positive reviews dominate feedback</a:t>
            </a:r>
            <a:endParaRPr sz="1550" b="0" i="0" u="none" strike="noStrike" cap="none"/>
          </a:p>
        </p:txBody>
      </p:sp>
      <p:sp>
        <p:nvSpPr>
          <p:cNvPr id="2" name="Google Shape;122;p18">
            <a:extLst>
              <a:ext uri="{FF2B5EF4-FFF2-40B4-BE49-F238E27FC236}">
                <a16:creationId xmlns:a16="http://schemas.microsoft.com/office/drawing/2014/main" id="{7E61E6B0-C541-129E-BA80-10534ED2CA42}"/>
              </a:ext>
            </a:extLst>
          </p:cNvPr>
          <p:cNvSpPr/>
          <p:nvPr/>
        </p:nvSpPr>
        <p:spPr>
          <a:xfrm>
            <a:off x="1124606" y="725213"/>
            <a:ext cx="7041931" cy="78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100"/>
              <a:buFont typeface="Dela Gothic One"/>
              <a:buNone/>
            </a:pPr>
            <a:r>
              <a:rPr lang="en-US" sz="4100" b="0" i="0" u="none" strike="noStrike" cap="none" dirty="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Dashboard Overview</a:t>
            </a:r>
            <a:endParaRPr sz="4100" b="0" i="0" u="none" strike="noStrike" cap="non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758309" y="939046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50"/>
              <a:buFont typeface="Dela Gothic One"/>
              <a:buNone/>
            </a:pPr>
            <a:r>
              <a:rPr lang="en-US" sz="44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Key Insights</a:t>
            </a:r>
            <a:endParaRPr sz="4450" b="0" i="0" u="none" strike="noStrike" cap="none"/>
          </a:p>
        </p:txBody>
      </p:sp>
      <p:sp>
        <p:nvSpPr>
          <p:cNvPr id="147" name="Google Shape;147;p19"/>
          <p:cNvSpPr/>
          <p:nvPr/>
        </p:nvSpPr>
        <p:spPr>
          <a:xfrm>
            <a:off x="758309" y="2085023"/>
            <a:ext cx="6448544" cy="2494478"/>
          </a:xfrm>
          <a:prstGeom prst="roundRect">
            <a:avLst>
              <a:gd name="adj" fmla="val 3648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982504" y="23092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217" y="2487930"/>
            <a:ext cx="292418" cy="29241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982504" y="3175754"/>
            <a:ext cx="3696414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Delivery Performance</a:t>
            </a:r>
            <a:endParaRPr sz="2200" b="0" i="0" u="none" strike="noStrike" cap="none"/>
          </a:p>
        </p:txBody>
      </p:sp>
      <p:sp>
        <p:nvSpPr>
          <p:cNvPr id="151" name="Google Shape;151;p19"/>
          <p:cNvSpPr/>
          <p:nvPr/>
        </p:nvSpPr>
        <p:spPr>
          <a:xfrm>
            <a:off x="982504" y="3661886"/>
            <a:ext cx="6000155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93.23% on-time delivery rate with certain regions showing higher delays requiring logistics optimization</a:t>
            </a:r>
            <a:endParaRPr sz="1700" b="0" i="0" u="none" strike="noStrike" cap="none"/>
          </a:p>
        </p:txBody>
      </p:sp>
      <p:sp>
        <p:nvSpPr>
          <p:cNvPr id="152" name="Google Shape;152;p19"/>
          <p:cNvSpPr/>
          <p:nvPr/>
        </p:nvSpPr>
        <p:spPr>
          <a:xfrm>
            <a:off x="7423428" y="2085023"/>
            <a:ext cx="6448663" cy="2494478"/>
          </a:xfrm>
          <a:prstGeom prst="roundRect">
            <a:avLst>
              <a:gd name="adj" fmla="val 3648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7647623" y="230921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335" y="2487930"/>
            <a:ext cx="292418" cy="29241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/>
          <p:nvPr/>
        </p:nvSpPr>
        <p:spPr>
          <a:xfrm>
            <a:off x="7647623" y="3175754"/>
            <a:ext cx="3139440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Customer Reviews</a:t>
            </a:r>
            <a:endParaRPr sz="2200" b="0" i="0" u="none" strike="noStrike" cap="none"/>
          </a:p>
        </p:txBody>
      </p:sp>
      <p:sp>
        <p:nvSpPr>
          <p:cNvPr id="156" name="Google Shape;156;p19"/>
          <p:cNvSpPr/>
          <p:nvPr/>
        </p:nvSpPr>
        <p:spPr>
          <a:xfrm>
            <a:off x="7647623" y="3661886"/>
            <a:ext cx="6000274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Positive reviews dominate feedback with average rating of 4.03 out of 5 stars</a:t>
            </a:r>
            <a:endParaRPr sz="1700" b="0" i="0" u="none" strike="noStrike" cap="none"/>
          </a:p>
        </p:txBody>
      </p:sp>
      <p:sp>
        <p:nvSpPr>
          <p:cNvPr id="157" name="Google Shape;157;p19"/>
          <p:cNvSpPr/>
          <p:nvPr/>
        </p:nvSpPr>
        <p:spPr>
          <a:xfrm>
            <a:off x="758309" y="4796076"/>
            <a:ext cx="6448544" cy="2494478"/>
          </a:xfrm>
          <a:prstGeom prst="roundRect">
            <a:avLst>
              <a:gd name="adj" fmla="val 3648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982504" y="5020270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1217" y="5198983"/>
            <a:ext cx="292418" cy="29241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/>
          <p:nvPr/>
        </p:nvSpPr>
        <p:spPr>
          <a:xfrm>
            <a:off x="982504" y="5886807"/>
            <a:ext cx="33583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Product Categories</a:t>
            </a:r>
            <a:endParaRPr sz="2200" b="0" i="0" u="none" strike="noStrike" cap="none"/>
          </a:p>
        </p:txBody>
      </p:sp>
      <p:sp>
        <p:nvSpPr>
          <p:cNvPr id="161" name="Google Shape;161;p19"/>
          <p:cNvSpPr/>
          <p:nvPr/>
        </p:nvSpPr>
        <p:spPr>
          <a:xfrm>
            <a:off x="982504" y="6372939"/>
            <a:ext cx="6000155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Revenue concentrated in specific categories: bed_bath_tble, baby, auto, and health_beauty lead sales</a:t>
            </a:r>
            <a:endParaRPr sz="1700" b="0" i="0" u="none" strike="noStrike" cap="none"/>
          </a:p>
        </p:txBody>
      </p:sp>
      <p:sp>
        <p:nvSpPr>
          <p:cNvPr id="162" name="Google Shape;162;p19"/>
          <p:cNvSpPr/>
          <p:nvPr/>
        </p:nvSpPr>
        <p:spPr>
          <a:xfrm>
            <a:off x="7423428" y="4796076"/>
            <a:ext cx="6448663" cy="2494478"/>
          </a:xfrm>
          <a:prstGeom prst="roundRect">
            <a:avLst>
              <a:gd name="adj" fmla="val 3648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7647623" y="5020270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26335" y="5198983"/>
            <a:ext cx="292418" cy="29241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7647623" y="5886807"/>
            <a:ext cx="3068122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Payment Methods</a:t>
            </a:r>
            <a:endParaRPr sz="2200" b="0" i="0" u="none" strike="noStrike" cap="none"/>
          </a:p>
        </p:txBody>
      </p:sp>
      <p:sp>
        <p:nvSpPr>
          <p:cNvPr id="166" name="Google Shape;166;p19"/>
          <p:cNvSpPr/>
          <p:nvPr/>
        </p:nvSpPr>
        <p:spPr>
          <a:xfrm>
            <a:off x="7647623" y="6372939"/>
            <a:ext cx="6000274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Credit card most used payment method followed by boleto and debit card</a:t>
            </a:r>
            <a:endParaRPr sz="1700" b="0" i="0" u="none" strike="noStrike" cap="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746403" y="586502"/>
            <a:ext cx="8886349" cy="70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00"/>
              <a:buFont typeface="Dela Gothic One"/>
              <a:buNone/>
            </a:pPr>
            <a:r>
              <a:rPr lang="en-US" sz="44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Performance Optimization</a:t>
            </a:r>
            <a:endParaRPr sz="4400" b="0" i="0" u="none" strike="noStrike" cap="none"/>
          </a:p>
        </p:txBody>
      </p:sp>
      <p:pic>
        <p:nvPicPr>
          <p:cNvPr id="173" name="Google Shape;173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403" y="1838920"/>
            <a:ext cx="8357235" cy="557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9705133" y="1948577"/>
            <a:ext cx="3241596" cy="35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lang="en-US" sz="2200" b="0" i="0" u="none" strike="noStrike" cap="none" dirty="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Techniques Applied</a:t>
            </a:r>
            <a:endParaRPr sz="2200" b="0" i="0" u="none" strike="noStrike" cap="none" dirty="0"/>
          </a:p>
        </p:txBody>
      </p:sp>
      <p:sp>
        <p:nvSpPr>
          <p:cNvPr id="175" name="Google Shape;175;p20"/>
          <p:cNvSpPr/>
          <p:nvPr/>
        </p:nvSpPr>
        <p:spPr>
          <a:xfrm>
            <a:off x="9631561" y="2860000"/>
            <a:ext cx="4259937" cy="198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M Sans"/>
              <a:buChar char="•"/>
            </a:pPr>
            <a:r>
              <a:rPr lang="en-US" sz="1650" b="0" i="0" u="none" strike="noStrike" cap="none" dirty="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SQL views to reduce dataset size</a:t>
            </a:r>
            <a:endParaRPr sz="1650" b="0" i="0" u="none" strike="noStrike" cap="none" dirty="0"/>
          </a:p>
          <a:p>
            <a:pPr marL="342900" marR="0" lvl="0" indent="-34290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M Sans"/>
              <a:buChar char="•"/>
            </a:pPr>
            <a:r>
              <a:rPr lang="en-US" sz="1650" b="0" i="0" u="none" strike="noStrike" cap="none" dirty="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Indexing on </a:t>
            </a:r>
            <a:r>
              <a:rPr lang="en-US" sz="1650" b="0" i="0" u="none" strike="noStrike" cap="none" dirty="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order_id</a:t>
            </a:r>
            <a:r>
              <a:rPr lang="en-US" sz="1650" b="0" i="0" u="none" strike="noStrike" cap="none" dirty="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650" b="0" i="0" u="none" strike="noStrike" cap="none" dirty="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customer_id</a:t>
            </a:r>
            <a:endParaRPr sz="1650" b="0" i="0" u="none" strike="noStrike" cap="none" dirty="0"/>
          </a:p>
          <a:p>
            <a:pPr marL="342900" marR="0" lvl="0" indent="-34290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M Sans"/>
              <a:buChar char="•"/>
            </a:pPr>
            <a:r>
              <a:rPr lang="en-US" sz="1650" b="0" i="0" u="none" strike="noStrike" cap="none" dirty="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Star schema for efficient joins</a:t>
            </a:r>
            <a:endParaRPr sz="1650" b="0" i="0" u="none" strike="noStrike" cap="none" dirty="0"/>
          </a:p>
          <a:p>
            <a:pPr marL="342900" marR="0" lvl="0" indent="-34290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M Sans"/>
              <a:buChar char="•"/>
            </a:pPr>
            <a:r>
              <a:rPr lang="en-US" sz="1650" b="0" i="0" u="none" strike="noStrike" cap="none" dirty="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Hybrid connection approach</a:t>
            </a:r>
            <a:endParaRPr sz="1650" b="0" i="0" u="none" strike="noStrike" cap="none" dirty="0"/>
          </a:p>
          <a:p>
            <a:pPr marL="342900" marR="0" lvl="0" indent="-34290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M Sans"/>
              <a:buChar char="•"/>
            </a:pPr>
            <a:r>
              <a:rPr lang="en-US" sz="1650" b="0" i="0" u="none" strike="noStrike" cap="none" dirty="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Chunk-based file splitting</a:t>
            </a:r>
            <a:endParaRPr sz="1650" b="0" i="0" u="none" strike="noStrike" cap="none" dirty="0"/>
          </a:p>
        </p:txBody>
      </p:sp>
      <p:sp>
        <p:nvSpPr>
          <p:cNvPr id="176" name="Google Shape;176;p20"/>
          <p:cNvSpPr/>
          <p:nvPr/>
        </p:nvSpPr>
        <p:spPr>
          <a:xfrm>
            <a:off x="9705133" y="4880848"/>
            <a:ext cx="3637121" cy="35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lang="en-US" sz="2200" b="0" i="0" u="none" strike="noStrike" cap="none" dirty="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Challenges Overcome</a:t>
            </a:r>
            <a:endParaRPr sz="2200" b="0" i="0" u="none" strike="noStrike" cap="none" dirty="0"/>
          </a:p>
        </p:txBody>
      </p:sp>
      <p:sp>
        <p:nvSpPr>
          <p:cNvPr id="177" name="Google Shape;177;p20"/>
          <p:cNvSpPr/>
          <p:nvPr/>
        </p:nvSpPr>
        <p:spPr>
          <a:xfrm>
            <a:off x="9631561" y="5616892"/>
            <a:ext cx="4259937" cy="135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50"/>
              <a:buFont typeface="DM Sans"/>
              <a:buNone/>
            </a:pPr>
            <a:r>
              <a:rPr lang="en-US" sz="16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Handled large datasets exceeding system limits, resolved performance issues in DirectQuery mode, and optimized complex joins causing slow queries</a:t>
            </a:r>
            <a:endParaRPr sz="1650" b="0" i="0" u="none" strike="noStrike" cap="non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758309" y="1759863"/>
            <a:ext cx="9564172" cy="71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50"/>
              <a:buFont typeface="Dela Gothic One"/>
              <a:buNone/>
            </a:pPr>
            <a:r>
              <a:rPr lang="en-US" sz="44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Business Recommendations</a:t>
            </a:r>
            <a:endParaRPr sz="4450" b="0" i="0" u="none" strike="noStrike" cap="none"/>
          </a:p>
        </p:txBody>
      </p:sp>
      <p:sp>
        <p:nvSpPr>
          <p:cNvPr id="184" name="Google Shape;184;p21"/>
          <p:cNvSpPr/>
          <p:nvPr/>
        </p:nvSpPr>
        <p:spPr>
          <a:xfrm>
            <a:off x="758309" y="2905839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4901"/>
            </a:srgbClr>
          </a:solidFill>
          <a:ln w="3047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727829" y="2905839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1096804" y="3152894"/>
            <a:ext cx="3971687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Logistics Enhancement</a:t>
            </a:r>
            <a:endParaRPr sz="2200" b="0" i="0" u="none" strike="noStrike" cap="none"/>
          </a:p>
        </p:txBody>
      </p:sp>
      <p:sp>
        <p:nvSpPr>
          <p:cNvPr id="187" name="Google Shape;187;p21"/>
          <p:cNvSpPr/>
          <p:nvPr/>
        </p:nvSpPr>
        <p:spPr>
          <a:xfrm>
            <a:off x="1096804" y="3639026"/>
            <a:ext cx="5862995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Improve delivery infrastructure in delay-prone regions identified through geographic analysis</a:t>
            </a:r>
            <a:endParaRPr sz="1700" b="0" i="0" u="none" strike="noStrike" cap="none"/>
          </a:p>
        </p:txBody>
      </p:sp>
      <p:sp>
        <p:nvSpPr>
          <p:cNvPr id="188" name="Google Shape;188;p21"/>
          <p:cNvSpPr/>
          <p:nvPr/>
        </p:nvSpPr>
        <p:spPr>
          <a:xfrm>
            <a:off x="7423428" y="2905839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4901"/>
            </a:srgbClr>
          </a:solidFill>
          <a:ln w="3047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7392948" y="2905839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7761923" y="3152894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Category Focus</a:t>
            </a:r>
            <a:endParaRPr sz="2200" b="0" i="0" u="none" strike="noStrike" cap="none"/>
          </a:p>
        </p:txBody>
      </p:sp>
      <p:sp>
        <p:nvSpPr>
          <p:cNvPr id="191" name="Google Shape;191;p21"/>
          <p:cNvSpPr/>
          <p:nvPr/>
        </p:nvSpPr>
        <p:spPr>
          <a:xfrm>
            <a:off x="7761923" y="3639026"/>
            <a:ext cx="5863114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Concentrate marketing efforts on high-performing product categories showing strongest revenue generation</a:t>
            </a:r>
            <a:endParaRPr sz="1700" b="0" i="0" u="none" strike="noStrike" cap="none"/>
          </a:p>
        </p:txBody>
      </p:sp>
      <p:sp>
        <p:nvSpPr>
          <p:cNvPr id="192" name="Google Shape;192;p21"/>
          <p:cNvSpPr/>
          <p:nvPr/>
        </p:nvSpPr>
        <p:spPr>
          <a:xfrm>
            <a:off x="758309" y="4796076"/>
            <a:ext cx="6448544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4901"/>
            </a:srgbClr>
          </a:solidFill>
          <a:ln w="3047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727829" y="4796076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1096804" y="5043130"/>
            <a:ext cx="2926794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Seller Monitoring</a:t>
            </a:r>
            <a:endParaRPr sz="2200" b="0" i="0" u="none" strike="noStrike" cap="none"/>
          </a:p>
        </p:txBody>
      </p:sp>
      <p:sp>
        <p:nvSpPr>
          <p:cNvPr id="195" name="Google Shape;195;p21"/>
          <p:cNvSpPr/>
          <p:nvPr/>
        </p:nvSpPr>
        <p:spPr>
          <a:xfrm>
            <a:off x="1096804" y="5529263"/>
            <a:ext cx="5862995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Implement enhanced performance tracking for sellers to identify top performers and improvement areas</a:t>
            </a:r>
            <a:endParaRPr sz="1700" b="0" i="0" u="none" strike="noStrike" cap="none"/>
          </a:p>
        </p:txBody>
      </p:sp>
      <p:sp>
        <p:nvSpPr>
          <p:cNvPr id="196" name="Google Shape;196;p21"/>
          <p:cNvSpPr/>
          <p:nvPr/>
        </p:nvSpPr>
        <p:spPr>
          <a:xfrm>
            <a:off x="7423428" y="4796076"/>
            <a:ext cx="6448663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4901"/>
            </a:srgbClr>
          </a:solidFill>
          <a:ln w="3047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7392948" y="4796076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7761923" y="5043130"/>
            <a:ext cx="3694628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lang="en-US" sz="2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Customer Experience</a:t>
            </a:r>
            <a:endParaRPr sz="2200" b="0" i="0" u="none" strike="noStrike" cap="none"/>
          </a:p>
        </p:txBody>
      </p:sp>
      <p:sp>
        <p:nvSpPr>
          <p:cNvPr id="199" name="Google Shape;199;p21"/>
          <p:cNvSpPr/>
          <p:nvPr/>
        </p:nvSpPr>
        <p:spPr>
          <a:xfrm>
            <a:off x="7761923" y="5529263"/>
            <a:ext cx="5863114" cy="69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lang="en-US" sz="17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Leverage review insights to address common pain points and enhance overall satisfaction</a:t>
            </a:r>
            <a:endParaRPr sz="170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/>
          <p:nvPr/>
        </p:nvSpPr>
        <p:spPr>
          <a:xfrm>
            <a:off x="722709" y="595193"/>
            <a:ext cx="6403181" cy="67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250"/>
              <a:buFont typeface="Dela Gothic One"/>
              <a:buNone/>
            </a:pPr>
            <a:r>
              <a:rPr lang="en-US" sz="42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Conclusion &amp; Future</a:t>
            </a:r>
            <a:endParaRPr sz="4250" b="0" i="0" u="none" strike="noStrike" cap="none"/>
          </a:p>
        </p:txBody>
      </p:sp>
      <p:sp>
        <p:nvSpPr>
          <p:cNvPr id="206" name="Google Shape;206;p22"/>
          <p:cNvSpPr/>
          <p:nvPr/>
        </p:nvSpPr>
        <p:spPr>
          <a:xfrm>
            <a:off x="722709" y="2476500"/>
            <a:ext cx="2717125" cy="33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100"/>
              <a:buFont typeface="Dela Gothic One"/>
              <a:buNone/>
            </a:pPr>
            <a:r>
              <a:rPr lang="en-US" sz="21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Project Success</a:t>
            </a:r>
            <a:endParaRPr sz="2100" b="0" i="0" u="none" strike="noStrike" cap="none"/>
          </a:p>
        </p:txBody>
      </p:sp>
      <p:sp>
        <p:nvSpPr>
          <p:cNvPr id="207" name="Google Shape;207;p22"/>
          <p:cNvSpPr/>
          <p:nvPr/>
        </p:nvSpPr>
        <p:spPr>
          <a:xfrm>
            <a:off x="722709" y="3012877"/>
            <a:ext cx="6340554" cy="161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Complete industry-level data analytics workflow combining PostgreSQL and Power BI. High-performance dashboard transforms raw data into actionable insights, demonstrating ability to handle large datasets and deliver meaningful analytics solutions.</a:t>
            </a:r>
            <a:endParaRPr sz="1600" b="0" i="0" u="none" strike="noStrike" cap="none"/>
          </a:p>
        </p:txBody>
      </p:sp>
      <p:sp>
        <p:nvSpPr>
          <p:cNvPr id="208" name="Google Shape;208;p22"/>
          <p:cNvSpPr/>
          <p:nvPr/>
        </p:nvSpPr>
        <p:spPr>
          <a:xfrm>
            <a:off x="722709" y="4822388"/>
            <a:ext cx="3557826" cy="33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100"/>
              <a:buFont typeface="Dela Gothic One"/>
              <a:buNone/>
            </a:pPr>
            <a:r>
              <a:rPr lang="en-US" sz="21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Future Enhancements</a:t>
            </a:r>
            <a:endParaRPr sz="2100" b="0" i="0" u="none" strike="noStrike" cap="none"/>
          </a:p>
        </p:txBody>
      </p:sp>
      <p:sp>
        <p:nvSpPr>
          <p:cNvPr id="209" name="Google Shape;209;p22"/>
          <p:cNvSpPr/>
          <p:nvPr/>
        </p:nvSpPr>
        <p:spPr>
          <a:xfrm>
            <a:off x="722709" y="5358765"/>
            <a:ext cx="6340554" cy="149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00"/>
              <a:buFont typeface="DM Sans"/>
              <a:buChar char="•"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Real-time data streaming integration</a:t>
            </a:r>
            <a:endParaRPr sz="1600" b="0" i="0" u="none" strike="noStrike" cap="none"/>
          </a:p>
          <a:p>
            <a:pPr marL="342900" marR="0" lvl="0" indent="-34290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00"/>
              <a:buFont typeface="DM Sans"/>
              <a:buChar char="•"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Advanced sales forecasting models</a:t>
            </a:r>
            <a:endParaRPr sz="1600" b="0" i="0" u="none" strike="noStrike" cap="none"/>
          </a:p>
          <a:p>
            <a:pPr marL="342900" marR="0" lvl="0" indent="-34290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00"/>
              <a:buFont typeface="DM Sans"/>
              <a:buChar char="•"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Detailed customer segmentation</a:t>
            </a:r>
            <a:endParaRPr sz="1600" b="0" i="0" u="none" strike="noStrike" cap="none"/>
          </a:p>
          <a:p>
            <a:pPr marL="342900" marR="0" lvl="0" indent="-34290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600"/>
              <a:buFont typeface="DM Sans"/>
              <a:buChar char="•"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Anomaly detection systems</a:t>
            </a:r>
            <a:endParaRPr sz="1600" b="0" i="0" u="none" strike="noStrike" cap="none"/>
          </a:p>
        </p:txBody>
      </p:sp>
      <p:pic>
        <p:nvPicPr>
          <p:cNvPr id="210" name="Google Shape;210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4756" y="1790938"/>
            <a:ext cx="6340554" cy="422695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7574756" y="6239232"/>
            <a:ext cx="6340554" cy="1173718"/>
          </a:xfrm>
          <a:prstGeom prst="roundRect">
            <a:avLst>
              <a:gd name="adj" fmla="val 7390"/>
            </a:avLst>
          </a:prstGeom>
          <a:solidFill>
            <a:srgbClr val="183A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2" name="Google Shape;212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81211" y="6545104"/>
            <a:ext cx="258128" cy="20645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/>
          <p:nvPr/>
        </p:nvSpPr>
        <p:spPr>
          <a:xfrm>
            <a:off x="8245793" y="6487597"/>
            <a:ext cx="5463064" cy="645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6250"/>
              </a:lnSpc>
              <a:buClr>
                <a:srgbClr val="FFFFFF"/>
              </a:buClr>
              <a:buSzPts val="1600"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GitHub Repository:</a:t>
            </a:r>
            <a:r>
              <a:rPr lang="en-US" sz="1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https://github.com/mbcgit-hub18/E-Commerce-Data-Analytics-Project</a:t>
            </a:r>
            <a:endParaRPr sz="1600" b="0" i="0" u="none" strike="noStrike" cap="non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566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Dela Gothic One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Bharath chandra Midde</cp:lastModifiedBy>
  <cp:revision>2</cp:revision>
  <dcterms:modified xsi:type="dcterms:W3CDTF">2026-04-18T15:46:53Z</dcterms:modified>
</cp:coreProperties>
</file>